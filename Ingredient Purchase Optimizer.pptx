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uce Bold" charset="1" panose="00000800000000000000"/>
      <p:regular r:id="rId12"/>
    </p:embeddedFont>
    <p:embeddedFont>
      <p:font typeface="Open Sauce Medium" charset="1" panose="00000600000000000000"/>
      <p:regular r:id="rId13"/>
    </p:embeddedFont>
    <p:embeddedFont>
      <p:font typeface="Open Sans" charset="1" panose="00000000000000000000"/>
      <p:regular r:id="rId14"/>
    </p:embeddedFont>
    <p:embeddedFont>
      <p:font typeface="Open Sauce Heavy" charset="1" panose="00000A00000000000000"/>
      <p:regular r:id="rId15"/>
    </p:embeddedFont>
    <p:embeddedFont>
      <p:font typeface="Open Sauce Semi-Bold" charset="1" panose="00000700000000000000"/>
      <p:regular r:id="rId16"/>
    </p:embeddedFont>
    <p:embeddedFont>
      <p:font typeface="Open Sauce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89616" y="2884609"/>
            <a:ext cx="7798384" cy="7194683"/>
          </a:xfrm>
          <a:custGeom>
            <a:avLst/>
            <a:gdLst/>
            <a:ahLst/>
            <a:cxnLst/>
            <a:rect r="r" b="b" t="t" l="l"/>
            <a:pathLst>
              <a:path h="7194683" w="7798384">
                <a:moveTo>
                  <a:pt x="0" y="0"/>
                </a:moveTo>
                <a:lnTo>
                  <a:pt x="7798384" y="0"/>
                </a:lnTo>
                <a:lnTo>
                  <a:pt x="7798384" y="7194683"/>
                </a:lnTo>
                <a:lnTo>
                  <a:pt x="0" y="7194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157808"/>
            <a:ext cx="18288000" cy="2549619"/>
          </a:xfrm>
          <a:custGeom>
            <a:avLst/>
            <a:gdLst/>
            <a:ahLst/>
            <a:cxnLst/>
            <a:rect r="r" b="b" t="t" l="l"/>
            <a:pathLst>
              <a:path h="2549619" w="18288000">
                <a:moveTo>
                  <a:pt x="0" y="0"/>
                </a:moveTo>
                <a:lnTo>
                  <a:pt x="18288000" y="0"/>
                </a:lnTo>
                <a:lnTo>
                  <a:pt x="18288000" y="2549619"/>
                </a:lnTo>
                <a:lnTo>
                  <a:pt x="0" y="2549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18" t="-19251" r="-1318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8593" y="3355051"/>
            <a:ext cx="12422234" cy="2030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9"/>
              </a:lnSpc>
            </a:pPr>
            <a:r>
              <a:rPr lang="en-US" b="true" sz="8135" spc="-242">
                <a:solidFill>
                  <a:srgbClr val="54545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Food Ingredient Purchase Optimizer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5553835"/>
            <a:ext cx="5937218" cy="83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2802" spc="-56" b="true">
                <a:solidFill>
                  <a:srgbClr val="08223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Maximizing Menu Coverage &amp; Minimizing Waste within Budget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3497" y="8380981"/>
            <a:ext cx="4776430" cy="169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7"/>
              </a:lnSpc>
            </a:pPr>
            <a:r>
              <a:rPr lang="en-US" sz="28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PRESENTED BY:</a:t>
            </a:r>
          </a:p>
          <a:p>
            <a:pPr algn="ctr">
              <a:lnSpc>
                <a:spcPts val="2637"/>
              </a:lnSpc>
            </a:pPr>
            <a:r>
              <a:rPr lang="en-US" sz="26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Y.Akshaya-25MVCSMR0274</a:t>
            </a:r>
          </a:p>
          <a:p>
            <a:pPr algn="ctr">
              <a:lnSpc>
                <a:spcPts val="2637"/>
              </a:lnSpc>
            </a:pPr>
            <a:r>
              <a:rPr lang="en-US" sz="26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M.Rajeshwari-25MVCSMR0239</a:t>
            </a:r>
          </a:p>
          <a:p>
            <a:pPr algn="ctr">
              <a:lnSpc>
                <a:spcPts val="2637"/>
              </a:lnSpc>
            </a:pPr>
            <a:r>
              <a:rPr lang="en-US" sz="26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D.Maithreyee-25MVCSMR0213</a:t>
            </a:r>
          </a:p>
          <a:p>
            <a:pPr algn="ctr">
              <a:lnSpc>
                <a:spcPts val="2637"/>
              </a:lnSpc>
              <a:spcBef>
                <a:spcPct val="0"/>
              </a:spcBef>
            </a:pPr>
            <a:r>
              <a:rPr lang="en-US" sz="26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K.Eekshanika-25MVCSMRO236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6339" y="1304554"/>
            <a:ext cx="13342740" cy="1222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7"/>
              </a:lnSpc>
            </a:pPr>
            <a:r>
              <a:rPr lang="en-US" sz="9217" b="true">
                <a:solidFill>
                  <a:srgbClr val="0F233B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90903" y="3203605"/>
            <a:ext cx="13489693" cy="1996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087" b="true">
                <a:solidFill>
                  <a:srgbClr val="0F233B">
                    <a:alpha val="89804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Selecting ingredient purchases under a fixed budget to maximize menu coverage and reduce expected waste.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0903" y="5702494"/>
            <a:ext cx="12649154" cy="1100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sz="3354" b="true">
                <a:solidFill>
                  <a:srgbClr val="C66842">
                    <a:alpha val="89804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Budget constraint</a:t>
            </a:r>
          </a:p>
          <a:p>
            <a:pPr algn="l">
              <a:lnSpc>
                <a:spcPts val="4359"/>
              </a:lnSpc>
            </a:pPr>
            <a:r>
              <a:rPr lang="en-US" sz="3354">
                <a:solidFill>
                  <a:srgbClr val="0F233B">
                    <a:alpha val="8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for ingredient purchase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9182" y="7290618"/>
            <a:ext cx="6035592" cy="106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9"/>
              </a:lnSpc>
            </a:pPr>
            <a:r>
              <a:rPr lang="en-US" sz="3254" b="true">
                <a:solidFill>
                  <a:srgbClr val="C66842">
                    <a:alpha val="89804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Maximize</a:t>
            </a:r>
          </a:p>
          <a:p>
            <a:pPr algn="l">
              <a:lnSpc>
                <a:spcPts val="4229"/>
              </a:lnSpc>
            </a:pPr>
            <a:r>
              <a:rPr lang="en-US" sz="3254">
                <a:solidFill>
                  <a:srgbClr val="0F233B">
                    <a:alpha val="8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coverage of menu items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0903" y="8808615"/>
            <a:ext cx="7535815" cy="106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9"/>
              </a:lnSpc>
            </a:pPr>
            <a:r>
              <a:rPr lang="en-US" sz="3254" b="true">
                <a:solidFill>
                  <a:srgbClr val="C66842">
                    <a:alpha val="89804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Minimize</a:t>
            </a:r>
          </a:p>
          <a:p>
            <a:pPr algn="l">
              <a:lnSpc>
                <a:spcPts val="4229"/>
              </a:lnSpc>
            </a:pPr>
            <a:r>
              <a:rPr lang="en-US" sz="3254">
                <a:solidFill>
                  <a:srgbClr val="0F233B">
                    <a:alpha val="8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expected ingredient waste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3508" y="836650"/>
            <a:ext cx="8979672" cy="114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4"/>
              </a:lnSpc>
            </a:pPr>
            <a:r>
              <a:rPr lang="en-US" sz="8644" b="true">
                <a:solidFill>
                  <a:srgbClr val="08122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Core Algorithms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350377"/>
            <a:ext cx="1323474" cy="1508614"/>
          </a:xfrm>
          <a:custGeom>
            <a:avLst/>
            <a:gdLst/>
            <a:ahLst/>
            <a:cxnLst/>
            <a:rect r="r" b="b" t="t" l="l"/>
            <a:pathLst>
              <a:path h="1508614" w="1323474">
                <a:moveTo>
                  <a:pt x="0" y="0"/>
                </a:moveTo>
                <a:lnTo>
                  <a:pt x="1323474" y="0"/>
                </a:lnTo>
                <a:lnTo>
                  <a:pt x="1323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92428" y="2886315"/>
            <a:ext cx="564392" cy="492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5"/>
              </a:lnSpc>
            </a:pPr>
            <a:r>
              <a:rPr lang="en-US" sz="3755" b="true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11995" y="2607912"/>
            <a:ext cx="3828591" cy="387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870" b="true">
                <a:solidFill>
                  <a:srgbClr val="B85D3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Knapaack Algorithm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88119" y="3108548"/>
            <a:ext cx="10973423" cy="926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8"/>
              </a:lnSpc>
            </a:pPr>
            <a:r>
              <a:rPr lang="en-US" sz="2830">
                <a:solidFill>
                  <a:srgbClr val="081227"/>
                </a:solidFill>
                <a:latin typeface="Open Sauce"/>
                <a:ea typeface="Open Sauce"/>
                <a:cs typeface="Open Sauce"/>
                <a:sym typeface="Open Sauce"/>
              </a:rPr>
              <a:t>Finds the best combination of ingredients to maximize total value within the budget.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4285339"/>
            <a:ext cx="1323474" cy="1289974"/>
          </a:xfrm>
          <a:custGeom>
            <a:avLst/>
            <a:gdLst/>
            <a:ahLst/>
            <a:cxnLst/>
            <a:rect r="r" b="b" t="t" l="l"/>
            <a:pathLst>
              <a:path h="1289974" w="1323474">
                <a:moveTo>
                  <a:pt x="0" y="0"/>
                </a:moveTo>
                <a:lnTo>
                  <a:pt x="1323474" y="0"/>
                </a:lnTo>
                <a:lnTo>
                  <a:pt x="132347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218221" y="4410750"/>
            <a:ext cx="3206075" cy="381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838" b="true">
                <a:solidFill>
                  <a:srgbClr val="B85D3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Greedy Selection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85928" y="4892226"/>
            <a:ext cx="10979148" cy="93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7"/>
              </a:lnSpc>
            </a:pPr>
            <a:r>
              <a:rPr lang="en-US" sz="2875">
                <a:solidFill>
                  <a:srgbClr val="081227"/>
                </a:solidFill>
                <a:latin typeface="Open Sauce"/>
                <a:ea typeface="Open Sauce"/>
                <a:cs typeface="Open Sauce"/>
                <a:sym typeface="Open Sauce"/>
              </a:rPr>
              <a:t>Picks the most valuable options step by step using a defined heuristic.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5990729"/>
            <a:ext cx="1323474" cy="1519546"/>
          </a:xfrm>
          <a:custGeom>
            <a:avLst/>
            <a:gdLst/>
            <a:ahLst/>
            <a:cxnLst/>
            <a:rect r="r" b="b" t="t" l="l"/>
            <a:pathLst>
              <a:path h="1519546" w="1323474">
                <a:moveTo>
                  <a:pt x="0" y="0"/>
                </a:moveTo>
                <a:lnTo>
                  <a:pt x="1323474" y="0"/>
                </a:lnTo>
                <a:lnTo>
                  <a:pt x="132347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92428" y="6508405"/>
            <a:ext cx="564392" cy="43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7"/>
              </a:lnSpc>
            </a:pPr>
            <a:r>
              <a:rPr lang="en-US" sz="3337" b="true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36544" y="6186856"/>
            <a:ext cx="1373710" cy="393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970" b="true">
                <a:solidFill>
                  <a:srgbClr val="B85D3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Sorting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81014" y="6651511"/>
            <a:ext cx="10738648" cy="93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7"/>
              </a:lnSpc>
            </a:pPr>
            <a:r>
              <a:rPr lang="en-US" sz="2875">
                <a:solidFill>
                  <a:srgbClr val="081227"/>
                </a:solidFill>
                <a:latin typeface="Open Sauce"/>
                <a:ea typeface="Open Sauce"/>
                <a:cs typeface="Open Sauce"/>
                <a:sym typeface="Open Sauce"/>
              </a:rPr>
              <a:t>Orders ingredients by cost, priority, or waste to support faster, smarter decisions.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45330" y="7707051"/>
            <a:ext cx="1323474" cy="1508614"/>
          </a:xfrm>
          <a:custGeom>
            <a:avLst/>
            <a:gdLst/>
            <a:ahLst/>
            <a:cxnLst/>
            <a:rect r="r" b="b" t="t" l="l"/>
            <a:pathLst>
              <a:path h="1508614" w="1323474">
                <a:moveTo>
                  <a:pt x="0" y="0"/>
                </a:moveTo>
                <a:lnTo>
                  <a:pt x="1323474" y="0"/>
                </a:lnTo>
                <a:lnTo>
                  <a:pt x="1323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92428" y="8285584"/>
            <a:ext cx="564392" cy="43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7"/>
              </a:lnSpc>
            </a:pPr>
            <a:r>
              <a:rPr lang="en-US" sz="3337" b="true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14401" y="7979333"/>
            <a:ext cx="3588013" cy="38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904" b="true">
                <a:solidFill>
                  <a:srgbClr val="B85D3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Stronger Decisions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85928" y="8445315"/>
            <a:ext cx="10733735" cy="93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5"/>
              </a:lnSpc>
            </a:pPr>
            <a:r>
              <a:rPr lang="en-US" sz="2881">
                <a:solidFill>
                  <a:srgbClr val="081227"/>
                </a:solidFill>
                <a:latin typeface="Open Sauce"/>
                <a:ea typeface="Open Sauce"/>
                <a:cs typeface="Open Sauce"/>
                <a:sym typeface="Open Sauce"/>
              </a:rPr>
              <a:t>These algorithms work together to improve coverage, control costs, and reduce waste.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428" y="4716165"/>
            <a:ext cx="564392" cy="438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7"/>
              </a:lnSpc>
            </a:pPr>
            <a:r>
              <a:rPr lang="en-US" sz="3337" b="true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9259" y="581606"/>
            <a:ext cx="12762337" cy="2304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8"/>
              </a:lnSpc>
            </a:pPr>
            <a:r>
              <a:rPr lang="en-US" sz="8938" spc="-266" b="true">
                <a:solidFill>
                  <a:srgbClr val="0A20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Prototype Architecture &amp; Technologies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7269" y="3054547"/>
            <a:ext cx="8640300" cy="775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spc="-79">
                <a:solidFill>
                  <a:srgbClr val="0A203B">
                    <a:alpha val="8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A modular system that turns ingredient data and budget inputs into optimized purchase recommendations.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4285339"/>
            <a:ext cx="5020450" cy="1082267"/>
          </a:xfrm>
          <a:custGeom>
            <a:avLst/>
            <a:gdLst/>
            <a:ahLst/>
            <a:cxnLst/>
            <a:rect r="r" b="b" t="t" l="l"/>
            <a:pathLst>
              <a:path h="1082267" w="5020450">
                <a:moveTo>
                  <a:pt x="0" y="0"/>
                </a:moveTo>
                <a:lnTo>
                  <a:pt x="5020450" y="0"/>
                </a:lnTo>
                <a:lnTo>
                  <a:pt x="5020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91988" y="4562225"/>
            <a:ext cx="636322" cy="601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4585" spc="-136" b="true">
                <a:solidFill>
                  <a:srgbClr val="F2F1E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5138034"/>
            <a:ext cx="5020450" cy="3224936"/>
          </a:xfrm>
          <a:custGeom>
            <a:avLst/>
            <a:gdLst/>
            <a:ahLst/>
            <a:cxnLst/>
            <a:rect r="r" b="b" t="t" l="l"/>
            <a:pathLst>
              <a:path h="3224936" w="5020450">
                <a:moveTo>
                  <a:pt x="0" y="0"/>
                </a:moveTo>
                <a:lnTo>
                  <a:pt x="5020450" y="0"/>
                </a:lnTo>
                <a:lnTo>
                  <a:pt x="502045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91359" y="5728156"/>
            <a:ext cx="1414861" cy="45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3498" spc="-104" b="true">
                <a:solidFill>
                  <a:srgbClr val="CD6A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SQLite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5508" y="6431553"/>
            <a:ext cx="3991570" cy="1007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69">
                <a:solidFill>
                  <a:srgbClr val="0A203B">
                    <a:alpha val="8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Stores ingredient information, costs, and menu requirements.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529866" y="4285339"/>
            <a:ext cx="5009512" cy="1082267"/>
          </a:xfrm>
          <a:custGeom>
            <a:avLst/>
            <a:gdLst/>
            <a:ahLst/>
            <a:cxnLst/>
            <a:rect r="r" b="b" t="t" l="l"/>
            <a:pathLst>
              <a:path h="1082267" w="5009512">
                <a:moveTo>
                  <a:pt x="0" y="0"/>
                </a:moveTo>
                <a:lnTo>
                  <a:pt x="5009512" y="0"/>
                </a:lnTo>
                <a:lnTo>
                  <a:pt x="500951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011157" y="4562225"/>
            <a:ext cx="757766" cy="601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4585" spc="-136" b="true">
                <a:solidFill>
                  <a:srgbClr val="F2F1E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36719" y="4530261"/>
            <a:ext cx="2946797" cy="668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b="true" sz="2321" spc="-69">
                <a:solidFill>
                  <a:srgbClr val="F2F1EC">
                    <a:alpha val="89804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ALGORITHM IMPLEMENTATION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529866" y="5138034"/>
            <a:ext cx="5009512" cy="3224936"/>
          </a:xfrm>
          <a:custGeom>
            <a:avLst/>
            <a:gdLst/>
            <a:ahLst/>
            <a:cxnLst/>
            <a:rect r="r" b="b" t="t" l="l"/>
            <a:pathLst>
              <a:path h="3224936" w="5009512">
                <a:moveTo>
                  <a:pt x="0" y="0"/>
                </a:moveTo>
                <a:lnTo>
                  <a:pt x="5009512" y="0"/>
                </a:lnTo>
                <a:lnTo>
                  <a:pt x="500951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111311" y="5728658"/>
            <a:ext cx="1457962" cy="44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3458" spc="-103" b="true">
                <a:solidFill>
                  <a:srgbClr val="CD6A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Python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25891" y="6435178"/>
            <a:ext cx="3482578" cy="134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69">
                <a:solidFill>
                  <a:srgbClr val="0A203B">
                    <a:alpha val="8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Implements knapssck, greedy, and sorting algorithms to find the best purchase set.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403464" y="4285339"/>
            <a:ext cx="5020450" cy="1082267"/>
          </a:xfrm>
          <a:custGeom>
            <a:avLst/>
            <a:gdLst/>
            <a:ahLst/>
            <a:cxnLst/>
            <a:rect r="r" b="b" t="t" l="l"/>
            <a:pathLst>
              <a:path h="1082267" w="5020450">
                <a:moveTo>
                  <a:pt x="0" y="0"/>
                </a:moveTo>
                <a:lnTo>
                  <a:pt x="5020450" y="0"/>
                </a:lnTo>
                <a:lnTo>
                  <a:pt x="5020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904750" y="4562225"/>
            <a:ext cx="757766" cy="601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5"/>
              </a:lnSpc>
            </a:pPr>
            <a:r>
              <a:rPr lang="en-US" sz="4585" spc="-136" b="true">
                <a:solidFill>
                  <a:srgbClr val="F2F1E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403464" y="5138034"/>
            <a:ext cx="5020450" cy="3224936"/>
          </a:xfrm>
          <a:custGeom>
            <a:avLst/>
            <a:gdLst/>
            <a:ahLst/>
            <a:cxnLst/>
            <a:rect r="r" b="b" t="t" l="l"/>
            <a:pathLst>
              <a:path h="3224936" w="5020450">
                <a:moveTo>
                  <a:pt x="0" y="0"/>
                </a:moveTo>
                <a:lnTo>
                  <a:pt x="5020450" y="0"/>
                </a:lnTo>
                <a:lnTo>
                  <a:pt x="502045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973826" y="5728658"/>
            <a:ext cx="1886893" cy="449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3458" spc="-103" b="true">
                <a:solidFill>
                  <a:srgbClr val="CD6A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Streamlit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92695" y="6435178"/>
            <a:ext cx="3482578" cy="134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69">
                <a:solidFill>
                  <a:srgbClr val="0A203B">
                    <a:alpha val="8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Provides an interactive interface for selection, analysis, and results visualization.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5654842" y="5990729"/>
            <a:ext cx="1104718" cy="655919"/>
          </a:xfrm>
          <a:custGeom>
            <a:avLst/>
            <a:gdLst/>
            <a:ahLst/>
            <a:cxnLst/>
            <a:rect r="r" b="b" t="t" l="l"/>
            <a:pathLst>
              <a:path h="655919" w="1104718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528440" y="5990729"/>
            <a:ext cx="1104718" cy="655919"/>
          </a:xfrm>
          <a:custGeom>
            <a:avLst/>
            <a:gdLst/>
            <a:ahLst/>
            <a:cxnLst/>
            <a:rect r="r" b="b" t="t" l="l"/>
            <a:pathLst>
              <a:path h="655919" w="1104718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040708" y="8133399"/>
            <a:ext cx="11987828" cy="1082267"/>
          </a:xfrm>
          <a:custGeom>
            <a:avLst/>
            <a:gdLst/>
            <a:ahLst/>
            <a:cxnLst/>
            <a:rect r="r" b="b" t="t" l="l"/>
            <a:pathLst>
              <a:path h="1082267" w="11987828">
                <a:moveTo>
                  <a:pt x="0" y="0"/>
                </a:moveTo>
                <a:lnTo>
                  <a:pt x="11987828" y="0"/>
                </a:lnTo>
                <a:lnTo>
                  <a:pt x="1198782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125891" y="9323513"/>
            <a:ext cx="3991570" cy="32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6"/>
              </a:lnSpc>
            </a:pPr>
            <a:r>
              <a:rPr lang="en-US" b="true" sz="2321" spc="-69">
                <a:solidFill>
                  <a:srgbClr val="0A203B">
                    <a:alpha val="89804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ITERATE &amp; REFINE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03523" y="4669713"/>
            <a:ext cx="2946797" cy="32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b="true" sz="2321" spc="-69">
                <a:solidFill>
                  <a:srgbClr val="F2F1EC">
                    <a:alpha val="89804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USER INTERFACE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55602" y="4669713"/>
            <a:ext cx="2946797" cy="329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b="true" sz="2321" spc="-69">
                <a:solidFill>
                  <a:srgbClr val="F2F1EC">
                    <a:alpha val="89804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STORAGE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97067" y="289153"/>
            <a:ext cx="7981560" cy="1736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83"/>
              </a:lnSpc>
            </a:pPr>
            <a:r>
              <a:rPr lang="en-US" sz="6260" spc="-125" b="true">
                <a:solidFill>
                  <a:srgbClr val="0B26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Results and</a:t>
            </a:r>
          </a:p>
          <a:p>
            <a:pPr algn="l">
              <a:lnSpc>
                <a:spcPts val="6883"/>
              </a:lnSpc>
            </a:pPr>
            <a:r>
              <a:rPr lang="en-US" sz="6260" spc="-125" b="true">
                <a:solidFill>
                  <a:srgbClr val="0B264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Decision Explanation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776725"/>
            <a:ext cx="5676718" cy="874559"/>
          </a:xfrm>
          <a:custGeom>
            <a:avLst/>
            <a:gdLst/>
            <a:ahLst/>
            <a:cxnLst/>
            <a:rect r="r" b="b" t="t" l="l"/>
            <a:pathLst>
              <a:path h="874559" w="5676718">
                <a:moveTo>
                  <a:pt x="0" y="0"/>
                </a:moveTo>
                <a:lnTo>
                  <a:pt x="5676718" y="0"/>
                </a:lnTo>
                <a:lnTo>
                  <a:pt x="567671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93190" y="3079546"/>
            <a:ext cx="2203575" cy="29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9"/>
              </a:lnSpc>
            </a:pPr>
            <a:r>
              <a:rPr lang="en-US" b="true" sz="2109" spc="-42">
                <a:solidFill>
                  <a:srgbClr val="F6F2E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Greedy Heuristic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6642" y="4188136"/>
            <a:ext cx="1492003" cy="192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1546" spc="-46" b="true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Chicken Breast</a:t>
            </a:r>
          </a:p>
          <a:p>
            <a:pPr algn="l">
              <a:lnSpc>
                <a:spcPts val="3093"/>
              </a:lnSpc>
            </a:pPr>
            <a:r>
              <a:rPr lang="en-US" sz="1546" spc="-46" b="true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Rice</a:t>
            </a:r>
          </a:p>
          <a:p>
            <a:pPr algn="l">
              <a:lnSpc>
                <a:spcPts val="3093"/>
              </a:lnSpc>
            </a:pPr>
            <a:r>
              <a:rPr lang="en-US" sz="1546" spc="-46" b="true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Tomatoes</a:t>
            </a:r>
          </a:p>
          <a:p>
            <a:pPr algn="l">
              <a:lnSpc>
                <a:spcPts val="3093"/>
              </a:lnSpc>
            </a:pPr>
            <a:r>
              <a:rPr lang="en-US" sz="1546" spc="-46" b="true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Onions</a:t>
            </a:r>
          </a:p>
          <a:p>
            <a:pPr algn="l">
              <a:lnSpc>
                <a:spcPts val="3093"/>
              </a:lnSpc>
            </a:pPr>
            <a:r>
              <a:rPr lang="en-US" sz="1546" spc="-46" b="true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Lettuce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84733" y="4188136"/>
            <a:ext cx="512305" cy="192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93"/>
              </a:lnSpc>
            </a:pPr>
            <a:r>
              <a:rPr lang="en-US" b="true" sz="1546" spc="-46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8 kg</a:t>
            </a:r>
          </a:p>
          <a:p>
            <a:pPr algn="r">
              <a:lnSpc>
                <a:spcPts val="3093"/>
              </a:lnSpc>
            </a:pPr>
            <a:r>
              <a:rPr lang="en-US" b="true" sz="1546" spc="-46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10 kg</a:t>
            </a:r>
          </a:p>
          <a:p>
            <a:pPr algn="r">
              <a:lnSpc>
                <a:spcPts val="3093"/>
              </a:lnSpc>
            </a:pPr>
            <a:r>
              <a:rPr lang="en-US" b="true" sz="1546" spc="-46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6 kg</a:t>
            </a:r>
          </a:p>
          <a:p>
            <a:pPr algn="r">
              <a:lnSpc>
                <a:spcPts val="3093"/>
              </a:lnSpc>
            </a:pPr>
            <a:r>
              <a:rPr lang="en-US" b="true" sz="1546" spc="-46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5 kg</a:t>
            </a:r>
          </a:p>
          <a:p>
            <a:pPr algn="r">
              <a:lnSpc>
                <a:spcPts val="3093"/>
              </a:lnSpc>
            </a:pPr>
            <a:r>
              <a:rPr lang="en-US" b="true" sz="1546" spc="-46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3 kg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74272" y="4188136"/>
            <a:ext cx="733044" cy="1920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93"/>
              </a:lnSpc>
            </a:pPr>
            <a:r>
              <a:rPr lang="en-US" b="true" sz="1546" spc="-46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$24.00</a:t>
            </a:r>
          </a:p>
          <a:p>
            <a:pPr algn="r">
              <a:lnSpc>
                <a:spcPts val="3093"/>
              </a:lnSpc>
            </a:pPr>
            <a:r>
              <a:rPr lang="en-US" b="true" sz="1546" spc="-46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$12.00</a:t>
            </a:r>
          </a:p>
          <a:p>
            <a:pPr algn="r">
              <a:lnSpc>
                <a:spcPts val="3093"/>
              </a:lnSpc>
            </a:pPr>
            <a:r>
              <a:rPr lang="en-US" b="true" sz="1546" spc="-46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$9.00</a:t>
            </a:r>
          </a:p>
          <a:p>
            <a:pPr algn="r">
              <a:lnSpc>
                <a:spcPts val="3093"/>
              </a:lnSpc>
            </a:pPr>
            <a:r>
              <a:rPr lang="en-US" b="true" sz="1546" spc="-46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$6.00</a:t>
            </a:r>
          </a:p>
          <a:p>
            <a:pPr algn="r">
              <a:lnSpc>
                <a:spcPts val="3093"/>
              </a:lnSpc>
            </a:pPr>
            <a:r>
              <a:rPr lang="en-US" b="true" sz="1546" spc="-46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$7.00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50289" y="7778528"/>
            <a:ext cx="815370" cy="29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9"/>
              </a:lnSpc>
            </a:pPr>
            <a:r>
              <a:rPr lang="en-US" b="true" sz="2109" spc="-42">
                <a:solidFill>
                  <a:srgbClr val="C25D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18.5%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4086" y="6635716"/>
            <a:ext cx="5020450" cy="229572"/>
          </a:xfrm>
          <a:custGeom>
            <a:avLst/>
            <a:gdLst/>
            <a:ahLst/>
            <a:cxnLst/>
            <a:rect r="r" b="b" t="t" l="l"/>
            <a:pathLst>
              <a:path h="229572" w="5020450">
                <a:moveTo>
                  <a:pt x="0" y="0"/>
                </a:moveTo>
                <a:lnTo>
                  <a:pt x="5020450" y="0"/>
                </a:lnTo>
                <a:lnTo>
                  <a:pt x="502045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311110" y="2776725"/>
            <a:ext cx="5665780" cy="874559"/>
          </a:xfrm>
          <a:custGeom>
            <a:avLst/>
            <a:gdLst/>
            <a:ahLst/>
            <a:cxnLst/>
            <a:rect r="r" b="b" t="t" l="l"/>
            <a:pathLst>
              <a:path h="874559" w="5665780">
                <a:moveTo>
                  <a:pt x="0" y="0"/>
                </a:moveTo>
                <a:lnTo>
                  <a:pt x="5665780" y="0"/>
                </a:lnTo>
                <a:lnTo>
                  <a:pt x="566578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714378" y="3079546"/>
            <a:ext cx="3041232" cy="29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9"/>
              </a:lnSpc>
            </a:pPr>
            <a:r>
              <a:rPr lang="en-US" b="true" sz="2109" spc="-42">
                <a:solidFill>
                  <a:srgbClr val="F6F2E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Knapsack Optimization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97280" y="4197061"/>
            <a:ext cx="1429781" cy="2213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1476" spc="-43" b="true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Chicken Breast</a:t>
            </a:r>
          </a:p>
          <a:p>
            <a:pPr algn="l">
              <a:lnSpc>
                <a:spcPts val="2953"/>
              </a:lnSpc>
            </a:pPr>
            <a:r>
              <a:rPr lang="en-US" sz="1476" spc="-43" b="true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Black Beans</a:t>
            </a:r>
          </a:p>
          <a:p>
            <a:pPr algn="l">
              <a:lnSpc>
                <a:spcPts val="2953"/>
              </a:lnSpc>
            </a:pPr>
            <a:r>
              <a:rPr lang="en-US" sz="1476" spc="-43" b="true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Rice</a:t>
            </a:r>
          </a:p>
          <a:p>
            <a:pPr algn="l">
              <a:lnSpc>
                <a:spcPts val="2953"/>
              </a:lnSpc>
            </a:pPr>
            <a:r>
              <a:rPr lang="en-US" sz="1476" spc="-43" b="true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Bell Peppers</a:t>
            </a:r>
          </a:p>
          <a:p>
            <a:pPr algn="l">
              <a:lnSpc>
                <a:spcPts val="2953"/>
              </a:lnSpc>
            </a:pPr>
            <a:r>
              <a:rPr lang="en-US" sz="1476" spc="-43" b="true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Spinach</a:t>
            </a:r>
          </a:p>
          <a:p>
            <a:pPr algn="l">
              <a:lnSpc>
                <a:spcPts val="2953"/>
              </a:lnSpc>
            </a:pPr>
            <a:r>
              <a:rPr lang="en-US" sz="1476" spc="-43" b="true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Tomatoes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09825" y="4197061"/>
            <a:ext cx="411912" cy="2213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53"/>
              </a:lnSpc>
            </a:pPr>
            <a:r>
              <a:rPr lang="en-US" b="true" sz="1476" spc="-43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7 kg</a:t>
            </a:r>
          </a:p>
          <a:p>
            <a:pPr algn="r">
              <a:lnSpc>
                <a:spcPts val="2953"/>
              </a:lnSpc>
            </a:pPr>
            <a:r>
              <a:rPr lang="en-US" b="true" sz="1476" spc="-43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6 kg</a:t>
            </a:r>
          </a:p>
          <a:p>
            <a:pPr algn="r">
              <a:lnSpc>
                <a:spcPts val="2953"/>
              </a:lnSpc>
            </a:pPr>
            <a:r>
              <a:rPr lang="en-US" b="true" sz="1476" spc="-43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8 kg</a:t>
            </a:r>
          </a:p>
          <a:p>
            <a:pPr algn="r">
              <a:lnSpc>
                <a:spcPts val="2953"/>
              </a:lnSpc>
            </a:pPr>
            <a:r>
              <a:rPr lang="en-US" b="true" sz="1476" spc="-43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5 kg</a:t>
            </a:r>
          </a:p>
          <a:p>
            <a:pPr algn="r">
              <a:lnSpc>
                <a:spcPts val="2953"/>
              </a:lnSpc>
            </a:pPr>
            <a:r>
              <a:rPr lang="en-US" b="true" sz="1476" spc="-43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4 kg</a:t>
            </a:r>
          </a:p>
          <a:p>
            <a:pPr algn="r">
              <a:lnSpc>
                <a:spcPts val="2953"/>
              </a:lnSpc>
            </a:pPr>
            <a:r>
              <a:rPr lang="en-US" b="true" sz="1476" spc="-43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4 kg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43364" y="4197061"/>
            <a:ext cx="650637" cy="2213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53"/>
              </a:lnSpc>
            </a:pPr>
            <a:r>
              <a:rPr lang="en-US" b="true" sz="1476" spc="-43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$21.00</a:t>
            </a:r>
          </a:p>
          <a:p>
            <a:pPr algn="r">
              <a:lnSpc>
                <a:spcPts val="2953"/>
              </a:lnSpc>
            </a:pPr>
            <a:r>
              <a:rPr lang="en-US" b="true" sz="1476" spc="-43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$9.00</a:t>
            </a:r>
          </a:p>
          <a:p>
            <a:pPr algn="r">
              <a:lnSpc>
                <a:spcPts val="2953"/>
              </a:lnSpc>
            </a:pPr>
            <a:r>
              <a:rPr lang="en-US" b="true" sz="1476" spc="-43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$9.60</a:t>
            </a:r>
          </a:p>
          <a:p>
            <a:pPr algn="r">
              <a:lnSpc>
                <a:spcPts val="2953"/>
              </a:lnSpc>
            </a:pPr>
            <a:r>
              <a:rPr lang="en-US" b="true" sz="1476" spc="-43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$7.50</a:t>
            </a:r>
          </a:p>
          <a:p>
            <a:pPr algn="r">
              <a:lnSpc>
                <a:spcPts val="2953"/>
              </a:lnSpc>
            </a:pPr>
            <a:r>
              <a:rPr lang="en-US" b="true" sz="1476" spc="-43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$4.80</a:t>
            </a:r>
          </a:p>
          <a:p>
            <a:pPr algn="r">
              <a:lnSpc>
                <a:spcPts val="2953"/>
              </a:lnSpc>
            </a:pPr>
            <a:r>
              <a:rPr lang="en-US" b="true" sz="1476" spc="-43">
                <a:solidFill>
                  <a:srgbClr val="3D3D3D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$6.00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74640" y="7778528"/>
            <a:ext cx="703664" cy="29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9"/>
              </a:lnSpc>
            </a:pPr>
            <a:r>
              <a:rPr lang="en-US" b="true" sz="2109" spc="-42">
                <a:solidFill>
                  <a:srgbClr val="C25D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8.2%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748622" y="6635716"/>
            <a:ext cx="5009512" cy="229572"/>
          </a:xfrm>
          <a:custGeom>
            <a:avLst/>
            <a:gdLst/>
            <a:ahLst/>
            <a:cxnLst/>
            <a:rect r="r" b="b" t="t" l="l"/>
            <a:pathLst>
              <a:path h="229572" w="5009512">
                <a:moveTo>
                  <a:pt x="0" y="0"/>
                </a:moveTo>
                <a:lnTo>
                  <a:pt x="5009512" y="0"/>
                </a:lnTo>
                <a:lnTo>
                  <a:pt x="500951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622220" y="2776725"/>
            <a:ext cx="5020450" cy="5586245"/>
          </a:xfrm>
          <a:custGeom>
            <a:avLst/>
            <a:gdLst/>
            <a:ahLst/>
            <a:cxnLst/>
            <a:rect r="r" b="b" t="t" l="l"/>
            <a:pathLst>
              <a:path h="5586245" w="5020450">
                <a:moveTo>
                  <a:pt x="0" y="0"/>
                </a:moveTo>
                <a:lnTo>
                  <a:pt x="5020450" y="0"/>
                </a:lnTo>
                <a:lnTo>
                  <a:pt x="5020450" y="5586245"/>
                </a:lnTo>
                <a:lnTo>
                  <a:pt x="0" y="55862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318727" y="3297978"/>
            <a:ext cx="2222564" cy="84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6008" spc="-120" b="true">
                <a:solidFill>
                  <a:srgbClr val="C25D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</a:t>
            </a:r>
            <a:r>
              <a:rPr lang="en-US" sz="6008" spc="-120" b="true">
                <a:solidFill>
                  <a:srgbClr val="72685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  <a:r>
              <a:rPr lang="en-US" sz="6008" spc="-120" b="true">
                <a:solidFill>
                  <a:srgbClr val="C25D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11897" y="4209109"/>
            <a:ext cx="2905589" cy="29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2109" spc="-42" b="true">
                <a:solidFill>
                  <a:srgbClr val="1F324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higher menu coverage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059732" y="4493047"/>
            <a:ext cx="4145426" cy="437279"/>
          </a:xfrm>
          <a:custGeom>
            <a:avLst/>
            <a:gdLst/>
            <a:ahLst/>
            <a:cxnLst/>
            <a:rect r="r" b="b" t="t" l="l"/>
            <a:pathLst>
              <a:path h="437279" w="4145426">
                <a:moveTo>
                  <a:pt x="0" y="0"/>
                </a:moveTo>
                <a:lnTo>
                  <a:pt x="4145426" y="0"/>
                </a:lnTo>
                <a:lnTo>
                  <a:pt x="414542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314586" y="5075157"/>
            <a:ext cx="2636727" cy="84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6008" spc="-120" b="true">
                <a:solidFill>
                  <a:srgbClr val="C25D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-10.3%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12536" y="5980600"/>
            <a:ext cx="2841757" cy="274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2039" spc="-40" b="true">
                <a:solidFill>
                  <a:srgbClr val="1F324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lower expected waste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059732" y="6428009"/>
            <a:ext cx="4145426" cy="218640"/>
          </a:xfrm>
          <a:custGeom>
            <a:avLst/>
            <a:gdLst/>
            <a:ahLst/>
            <a:cxnLst/>
            <a:rect r="r" b="b" t="t" l="l"/>
            <a:pathLst>
              <a:path h="218640" w="4145426">
                <a:moveTo>
                  <a:pt x="0" y="0"/>
                </a:moveTo>
                <a:lnTo>
                  <a:pt x="4145426" y="0"/>
                </a:lnTo>
                <a:lnTo>
                  <a:pt x="414542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320485" y="6837276"/>
            <a:ext cx="2046857" cy="840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6"/>
              </a:lnSpc>
            </a:pPr>
            <a:r>
              <a:rPr lang="en-US" sz="6008" spc="-120" b="true">
                <a:solidFill>
                  <a:srgbClr val="C25D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$0.10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323523" y="7733346"/>
            <a:ext cx="1742996" cy="29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2109" spc="-42" b="true">
                <a:solidFill>
                  <a:srgbClr val="1F324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under budget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95513" y="7693090"/>
            <a:ext cx="1606540" cy="34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1546" spc="-46" b="true">
                <a:solidFill>
                  <a:srgbClr val="3D3D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Expected Waste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5497" y="7693090"/>
            <a:ext cx="1606540" cy="34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1546" spc="-46" b="true">
                <a:solidFill>
                  <a:srgbClr val="3D3D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Expected Waste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95649" y="7224847"/>
            <a:ext cx="1592938" cy="34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1546" spc="-46" b="true">
                <a:solidFill>
                  <a:srgbClr val="3D3D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Menu Coverage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5809" y="7224847"/>
            <a:ext cx="1575335" cy="34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1546" spc="-46" b="true">
                <a:solidFill>
                  <a:srgbClr val="36465B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Menu Coverage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96255" y="6859817"/>
            <a:ext cx="970960" cy="29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9"/>
              </a:lnSpc>
            </a:pPr>
            <a:r>
              <a:rPr lang="en-US" b="true" sz="2109" spc="-42">
                <a:solidFill>
                  <a:srgbClr val="C25D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$58.00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36575" y="6859817"/>
            <a:ext cx="944134" cy="29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9"/>
              </a:lnSpc>
            </a:pPr>
            <a:r>
              <a:rPr lang="en-US" b="true" sz="2109" spc="-42">
                <a:solidFill>
                  <a:srgbClr val="C25D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$57.90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1377" y="3595185"/>
            <a:ext cx="1018528" cy="34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1546" spc="-46" b="true">
                <a:solidFill>
                  <a:srgbClr val="36465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Ingredient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01393" y="3595185"/>
            <a:ext cx="1018528" cy="34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1546" spc="-46" b="true">
                <a:solidFill>
                  <a:srgbClr val="36465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Ingredient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1363" y="6757961"/>
            <a:ext cx="1019915" cy="34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1546" spc="-46" b="true">
                <a:solidFill>
                  <a:srgbClr val="36465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Total Cost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692203" y="3595185"/>
            <a:ext cx="887944" cy="34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93"/>
              </a:lnSpc>
            </a:pPr>
            <a:r>
              <a:rPr lang="en-US" b="true" sz="1546" spc="-46">
                <a:solidFill>
                  <a:srgbClr val="36465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Est. Cost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901379" y="6757961"/>
            <a:ext cx="1019915" cy="34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3"/>
              </a:lnSpc>
            </a:pPr>
            <a:r>
              <a:rPr lang="en-US" sz="1546" spc="-46" b="true">
                <a:solidFill>
                  <a:srgbClr val="3D3D3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Total Cost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852188" y="3595185"/>
            <a:ext cx="887944" cy="34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93"/>
              </a:lnSpc>
            </a:pPr>
            <a:r>
              <a:rPr lang="en-US" b="true" sz="1546" spc="-46">
                <a:solidFill>
                  <a:srgbClr val="36465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Est. Cost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143002" y="7296581"/>
            <a:ext cx="620710" cy="29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9"/>
              </a:lnSpc>
            </a:pPr>
            <a:r>
              <a:rPr lang="en-US" b="true" sz="2109" spc="-42">
                <a:solidFill>
                  <a:srgbClr val="C25D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62%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958127" y="7296581"/>
            <a:ext cx="619334" cy="293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9"/>
              </a:lnSpc>
            </a:pPr>
            <a:r>
              <a:rPr lang="en-US" b="true" sz="2109" spc="-42">
                <a:solidFill>
                  <a:srgbClr val="C25D3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85%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084399" y="3595185"/>
            <a:ext cx="358040" cy="34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93"/>
              </a:lnSpc>
            </a:pPr>
            <a:r>
              <a:rPr lang="en-US" b="true" sz="1546" spc="-46">
                <a:solidFill>
                  <a:srgbClr val="1F324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Qty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458695" y="3595185"/>
            <a:ext cx="358040" cy="34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93"/>
              </a:lnSpc>
            </a:pPr>
            <a:r>
              <a:rPr lang="en-US" b="true" sz="1546" spc="-46">
                <a:solidFill>
                  <a:srgbClr val="36465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Qty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42838" t="-50784" r="-59545" b="-5159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5811" y="1331716"/>
            <a:ext cx="16053455" cy="124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49"/>
              </a:lnSpc>
            </a:pPr>
            <a:r>
              <a:rPr lang="en-US" sz="9015" spc="-180" b="true">
                <a:solidFill>
                  <a:srgbClr val="0C284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Summary and Next Steps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5811" y="3879158"/>
            <a:ext cx="15131430" cy="106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9"/>
              </a:lnSpc>
            </a:pPr>
            <a:r>
              <a:rPr lang="en-US" sz="3507" spc="-70" b="true">
                <a:solidFill>
                  <a:srgbClr val="0C284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Effective ingredient selection</a:t>
            </a:r>
          </a:p>
          <a:p>
            <a:pPr algn="l">
              <a:lnSpc>
                <a:spcPts val="4209"/>
              </a:lnSpc>
            </a:pPr>
            <a:r>
              <a:rPr lang="en-US" sz="3507" spc="-70" b="true">
                <a:solidFill>
                  <a:srgbClr val="0C284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improves menu coverage within budget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5811" y="6003149"/>
            <a:ext cx="10784888" cy="1085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9"/>
              </a:lnSpc>
            </a:pPr>
            <a:r>
              <a:rPr lang="en-US" sz="3607" spc="-72" b="true">
                <a:solidFill>
                  <a:srgbClr val="0C284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Kapsack and greedy approaches</a:t>
            </a:r>
          </a:p>
          <a:p>
            <a:pPr algn="l">
              <a:lnSpc>
                <a:spcPts val="4329"/>
              </a:lnSpc>
            </a:pPr>
            <a:r>
              <a:rPr lang="en-US" sz="3607" spc="-72" b="true">
                <a:solidFill>
                  <a:srgbClr val="0C284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offer different trade-offs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107095"/>
            <a:ext cx="10109767" cy="1066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9"/>
              </a:lnSpc>
            </a:pPr>
            <a:r>
              <a:rPr lang="en-US" sz="3507" spc="-70" b="true">
                <a:solidFill>
                  <a:srgbClr val="0C2842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Prototype demonstrates clear, understandable optimization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DAHW7aB6EZ8</dc:identifier>
  <dcterms:modified xsi:type="dcterms:W3CDTF">2011-08-01T06:04:30Z</dcterms:modified>
  <cp:revision>1</cp:revision>
  <dc:title>Ingredient Purchase Optimizer</dc:title>
</cp:coreProperties>
</file>